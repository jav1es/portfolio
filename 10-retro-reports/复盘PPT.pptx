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10515600" cy="3017520"/>
          </a:xfrm>
          <a:prstGeom prst="roundRect">
            <a:avLst/>
          </a:prstGeom>
          <a:solidFill>
            <a:srgbClr val="1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/>
              </a:rPr>
              <a:t>项目复盘与量化数据报告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FC3F7"/>
                </a:solidFill>
                <a:latin typeface="微软雅黑"/>
              </a:rPr>
              <a:t>AI 工作流落地 · 前后对比量化成效 · 可复用资产沉淀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69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B8E8"/>
                </a:solidFill>
                <a:latin typeface="微软雅黑"/>
              </a:rPr>
              <a:t>汇报人：黄家辉  |  覆盖模块：客服 / 财务 / 电商 / BI / 外贸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一、业务痛点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B8E8"/>
                </a:solidFill>
                <a:latin typeface="微软雅黑"/>
              </a:rPr>
              <a:t>项目启动前的真实问题（上线前基线采集）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C9D8EE"/>
                </a:solidFill>
                <a:latin typeface="微软雅黑"/>
              </a:rPr>
              <a:t>▍ 客服：日均 300 单、重复咨询占 60%，旺季响应超 10 分钟，人员流失高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C9D8EE"/>
                </a:solidFill>
                <a:latin typeface="微软雅黑"/>
              </a:rPr>
              <a:t>▍ 财务：发票审核日均 120 张，人工逐张核对，月结周期长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C9D8EE"/>
                </a:solidFill>
                <a:latin typeface="微软雅黑"/>
              </a:rPr>
              <a:t>▍ 电商：订单录入重复劳动，错单率 2%，跨系统操作耗时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C9D8EE"/>
                </a:solidFill>
                <a:latin typeface="微软雅黑"/>
              </a:rPr>
              <a:t>▍ 管理：周报/经营数据人工汇总，决策依赖 3 天前的数据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C9D8EE"/>
                </a:solidFill>
                <a:latin typeface="微软雅黑"/>
              </a:rPr>
              <a:t>▍ 外贸：询盘分类靠人工判断，高意向客户跟进不及时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二、我主导的内容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B8E8"/>
                </a:solidFill>
                <a:latin typeface="微软雅黑"/>
              </a:rPr>
              <a:t>从需求调研到落地推广的完整闭环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C9D8EE"/>
                </a:solidFill>
                <a:latin typeface="微软雅黑"/>
              </a:rPr>
              <a:t>▍ 需求调研：盘点 5 大部门高频重复场景，确定 8 个改造项目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C9D8EE"/>
                </a:solidFill>
                <a:latin typeface="微软雅黑"/>
              </a:rPr>
              <a:t>▍ 方案设计：工作流编排（触发→处理→校验→人工复核→反馈）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C9D8EE"/>
                </a:solidFill>
                <a:latin typeface="微软雅黑"/>
              </a:rPr>
              <a:t>▍ Prompt 工程：建立分类/抽取/生成/审核/总结模板库 + 评测集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C9D8EE"/>
                </a:solidFill>
                <a:latin typeface="微软雅黑"/>
              </a:rPr>
              <a:t>▍ 工程落地：FastAPI 服务、RPA 脚本、BI 看板、规则校验、监控告警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C9D8EE"/>
                </a:solidFill>
                <a:latin typeface="微软雅黑"/>
              </a:rPr>
              <a:t>▍ 推广运营：操作手册、培训微课、FAQ、带教 SOP、采纳率看板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三、使用工具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B8E8"/>
                </a:solidFill>
                <a:latin typeface="微软雅黑"/>
              </a:rPr>
              <a:t>按场景选用，不堆砌技术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8EE"/>
                </a:solidFill>
                <a:latin typeface="微软雅黑"/>
              </a:rPr>
              <a:t>▍ 智能体与工作流：Coze / Dify / n8n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8EE"/>
                </a:solidFill>
                <a:latin typeface="微软雅黑"/>
              </a:rPr>
              <a:t>▍ RPA 自动化：影刀 / 实在智能 / UiBot / 钉钉 RPA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8EE"/>
                </a:solidFill>
                <a:latin typeface="微软雅黑"/>
              </a:rPr>
              <a:t>▍ 数据与 BI：FineBI / Power BI / Metabase / 钉钉智能报表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8EE"/>
                </a:solidFill>
                <a:latin typeface="微软雅黑"/>
              </a:rPr>
              <a:t>▍ 工程底座：FastAPI / Docker / K8s / Prometheus / Nginx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8EE"/>
                </a:solidFill>
                <a:latin typeface="微软雅黑"/>
              </a:rPr>
              <a:t>▍ 模型与校验：大模型 API / JSON Schema / 正则 / 评测脚本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四、成效数据（前后对比）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B8E8"/>
                </a:solidFill>
                <a:latin typeface="微软雅黑"/>
              </a:rPr>
              <a:t>统一口径：同周期、同范围、有基线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7517"/>
              </p:ext>
            </p:extLst>
          </p:nvPr>
        </p:nvGraphicFramePr>
        <p:xfrm>
          <a:off x="640080" y="164592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1" dirty="0" err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  <a:endParaRPr sz="1400" b="1" dirty="0">
                        <a:solidFill>
                          <a:srgbClr val="FFFFFF"/>
                        </a:solidFill>
                        <a:latin typeface="微软雅黑"/>
                      </a:endParaRPr>
                    </a:p>
                  </a:txBody>
                  <a:tcPr marT="25400" marB="25400"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处理量(前→后)</a:t>
                      </a:r>
                    </a:p>
                  </a:txBody>
                  <a:tcPr marT="25400" marB="25400"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1" dirty="0" err="1">
                          <a:solidFill>
                            <a:srgbClr val="FFFFFF"/>
                          </a:solidFill>
                          <a:latin typeface="微软雅黑"/>
                        </a:rPr>
                        <a:t>人天(前→后)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微软雅黑"/>
                        </a:rPr>
                        <a:t/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微软雅黑"/>
                        </a:rPr>
                        <a:t/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T="25400" marB="25400"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1" dirty="0" err="1">
                          <a:solidFill>
                            <a:srgbClr val="FFFFFF"/>
                          </a:solidFill>
                          <a:latin typeface="微软雅黑"/>
                        </a:rPr>
                        <a:t>准确率(前→后)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微软雅黑"/>
                        </a:rPr>
                        <a:t/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微软雅黑"/>
                        </a:rPr>
                        <a:t/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T="25400" marB="25400"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省人天/周</a:t>
                      </a:r>
                    </a:p>
                  </a:txBody>
                  <a:tcPr marT="25400" marB="25400">
                    <a:solidFill>
                      <a:srgbClr val="12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企业服务客服 AI 工作流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 dirty="0">
                          <a:solidFill>
                            <a:srgbClr val="C9D8EE"/>
                          </a:solidFill>
                          <a:latin typeface="微软雅黑"/>
                        </a:rPr>
                        <a:t>300→420 单/日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3→1 人天/日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96%→99.2%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发票审核自动化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120→480 张/日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2→0.5 人天/日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97%→99.5%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10.5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订单 RPA 自动录入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150→600 单/日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2→0.3 人天/日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98%→99.8%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订单跨平台同步 RPA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500→2000 单/日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6→2 人天/日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99.2%→99.9%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库存对账自动化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12→40 次/日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3→0.5 人天/日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96%→99.8%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 dirty="0">
                          <a:solidFill>
                            <a:srgbClr val="C9D8EE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外贸询盘 AI 处理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80→240 封/日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1→0.2 人天/日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91%→97%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 dirty="0">
                          <a:solidFill>
                            <a:srgbClr val="C9D8EE"/>
                          </a:solidFill>
                          <a:latin typeface="微软雅黑"/>
                        </a:rPr>
                        <a:t>7.1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BI 经营看板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周报 8→0.5 人天/周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 dirty="0">
                          <a:solidFill>
                            <a:srgbClr val="C9D8EE"/>
                          </a:solidFill>
                          <a:latin typeface="微软雅黑"/>
                        </a:rPr>
                        <a:t>10.5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合计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>8 个项目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>
                          <a:solidFill>
                            <a:srgbClr val="C9D8EE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sz="1400" b="0" dirty="0">
                          <a:solidFill>
                            <a:srgbClr val="C9D8EE"/>
                          </a:solidFill>
                          <a:latin typeface="微软雅黑"/>
                        </a:rPr>
                        <a:t>61.6</a:t>
                      </a:r>
                    </a:p>
                  </a:txBody>
                  <a:tcPr marT="25400" marB="25400">
                    <a:solidFill>
                      <a:srgbClr val="12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五、量化指标亮点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B8E8"/>
                </a:solidFill>
                <a:latin typeface="微软雅黑"/>
              </a:rPr>
              <a:t>用数字证明价值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dirty="0">
                <a:solidFill>
                  <a:srgbClr val="3DDC97"/>
                </a:solidFill>
                <a:latin typeface="微软雅黑"/>
              </a:rPr>
              <a:t>★ 整体节省人工：合计 61.6 人天/周（约 246 人天/月）</a:t>
            </a:r>
            <a:r>
              <a:rPr sz="2200" b="1" dirty="0" err="1">
                <a:solidFill>
                  <a:srgbClr val="3DDC97"/>
                </a:solidFill>
                <a:latin typeface="微软雅黑"/>
              </a:rPr>
              <a:t/>
            </a:r>
            <a:r>
              <a:rPr sz="2200" b="1" dirty="0">
                <a:solidFill>
                  <a:srgbClr val="3DDC97"/>
                </a:solidFill>
                <a:latin typeface="微软雅黑"/>
              </a:rPr>
              <a:t/>
            </a:r>
            <a:r>
              <a:rPr sz="2200" b="1" dirty="0" err="1">
                <a:solidFill>
                  <a:srgbClr val="3DDC97"/>
                </a:solidFill>
                <a:latin typeface="微软雅黑"/>
              </a:rPr>
              <a:t/>
            </a:r>
            <a:r>
              <a:rPr sz="2200" b="1" dirty="0">
                <a:solidFill>
                  <a:srgbClr val="3DDC97"/>
                </a:solidFill>
                <a:latin typeface="微软雅黑"/>
              </a:rPr>
              <a:t/>
            </a:r>
            <a:r>
              <a:rPr sz="2200" b="1" dirty="0" err="1">
                <a:solidFill>
                  <a:srgbClr val="3DDC97"/>
                </a:solidFill>
                <a:latin typeface="微软雅黑"/>
              </a:rPr>
              <a:t/>
            </a:r>
            <a:r>
              <a:rPr sz="2200" b="1" dirty="0">
                <a:solidFill>
                  <a:srgbClr val="3DDC97"/>
                </a:solidFill>
                <a:latin typeface="微软雅黑"/>
              </a:rPr>
              <a:t/>
            </a:r>
            <a:r>
              <a:rPr sz="2200" b="1" dirty="0" err="1">
                <a:solidFill>
                  <a:srgbClr val="3DDC97"/>
                </a:solidFill>
                <a:latin typeface="微软雅黑"/>
              </a:rPr>
              <a:t/>
            </a:r>
            <a:r>
              <a:rPr sz="2200" b="1" dirty="0">
                <a:solidFill>
                  <a:srgbClr val="3DDC97"/>
                </a:solidFill>
                <a:latin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1" dirty="0">
                <a:solidFill>
                  <a:srgbClr val="4FC3F7"/>
                </a:solidFill>
                <a:latin typeface="微软雅黑"/>
              </a:rPr>
              <a:t>★ 处理量提升：客服 +40%、发票 4 倍、订单 RPA 自动录入 150→600 单/日（4 倍）</a:t>
            </a:r>
            <a:r>
              <a:rPr sz="2200" b="1" dirty="0" err="1">
                <a:solidFill>
                  <a:srgbClr val="4FC3F7"/>
                </a:solidFill>
                <a:latin typeface="微软雅黑"/>
              </a:rPr>
              <a:t/>
            </a:r>
            <a:r>
              <a:rPr sz="2200" b="1" dirty="0">
                <a:solidFill>
                  <a:srgbClr val="4FC3F7"/>
                </a:solidFill>
                <a:latin typeface="微软雅黑"/>
              </a:rPr>
              <a:t/>
            </a:r>
            <a:r>
              <a:rPr sz="2200" b="1" dirty="0" err="1">
                <a:solidFill>
                  <a:srgbClr val="4FC3F7"/>
                </a:solidFill>
                <a:latin typeface="微软雅黑"/>
              </a:rPr>
              <a:t/>
            </a:r>
            <a:r>
              <a:rPr sz="2200" b="1" dirty="0">
                <a:solidFill>
                  <a:srgbClr val="4FC3F7"/>
                </a:solidFill>
                <a:latin typeface="微软雅黑"/>
              </a:rPr>
              <a:t/>
            </a:r>
            <a:r>
              <a:rPr sz="2200" b="1" dirty="0" err="1">
                <a:solidFill>
                  <a:srgbClr val="4FC3F7"/>
                </a:solidFill>
                <a:latin typeface="微软雅黑"/>
              </a:rPr>
              <a:t/>
            </a:r>
            <a:r>
              <a:rPr sz="2200" b="1" dirty="0">
                <a:solidFill>
                  <a:srgbClr val="4FC3F7"/>
                </a:solidFill>
                <a:latin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1" dirty="0">
                <a:solidFill>
                  <a:srgbClr val="4FC3F7"/>
                </a:solidFill>
                <a:latin typeface="微软雅黑"/>
              </a:rPr>
              <a:t>★ </a:t>
            </a:r>
            <a:r>
              <a:rPr sz="2200" b="1" dirty="0" err="1">
                <a:solidFill>
                  <a:srgbClr val="4FC3F7"/>
                </a:solidFill>
                <a:latin typeface="微软雅黑"/>
              </a:rPr>
              <a:t>准确率提升：全部项目</a:t>
            </a:r>
            <a:r>
              <a:rPr sz="2200" b="1" dirty="0">
                <a:solidFill>
                  <a:srgbClr val="4FC3F7"/>
                </a:solidFill>
                <a:latin typeface="微软雅黑"/>
              </a:rPr>
              <a:t> ≥97%，</a:t>
            </a:r>
            <a:r>
              <a:rPr sz="2200" b="1" dirty="0" err="1">
                <a:solidFill>
                  <a:srgbClr val="4FC3F7"/>
                </a:solidFill>
                <a:latin typeface="微软雅黑"/>
              </a:rPr>
              <a:t>人机协同优于纯人工</a:t>
            </a:r>
            <a:endParaRPr sz="2200" b="1" dirty="0">
              <a:solidFill>
                <a:srgbClr val="4FC3F7"/>
              </a:solidFill>
              <a:latin typeface="微软雅黑"/>
            </a:endParaRPr>
          </a:p>
          <a:p>
            <a:pPr algn="l">
              <a:spcAft>
                <a:spcPts val="600"/>
              </a:spcAft>
            </a:pPr>
            <a:r>
              <a:rPr sz="2200" b="1" dirty="0">
                <a:solidFill>
                  <a:srgbClr val="4FC3F7"/>
                </a:solidFill>
                <a:latin typeface="微软雅黑"/>
              </a:rPr>
              <a:t>★ </a:t>
            </a:r>
            <a:r>
              <a:rPr sz="2200" b="1" dirty="0" err="1">
                <a:solidFill>
                  <a:srgbClr val="4FC3F7"/>
                </a:solidFill>
                <a:latin typeface="微软雅黑"/>
              </a:rPr>
              <a:t>成本下降：客服</a:t>
            </a:r>
            <a:r>
              <a:rPr sz="2200" b="1" dirty="0">
                <a:solidFill>
                  <a:srgbClr val="4FC3F7"/>
                </a:solidFill>
                <a:latin typeface="微软雅黑"/>
              </a:rPr>
              <a:t> -42%、</a:t>
            </a:r>
            <a:r>
              <a:rPr sz="2200" b="1" dirty="0" err="1">
                <a:solidFill>
                  <a:srgbClr val="4FC3F7"/>
                </a:solidFill>
                <a:latin typeface="微软雅黑"/>
              </a:rPr>
              <a:t>发票审核</a:t>
            </a:r>
            <a:r>
              <a:rPr sz="2200" b="1" dirty="0">
                <a:solidFill>
                  <a:srgbClr val="4FC3F7"/>
                </a:solidFill>
                <a:latin typeface="微软雅黑"/>
              </a:rPr>
              <a:t> -73%</a:t>
            </a:r>
          </a:p>
          <a:p>
            <a:pPr algn="l">
              <a:spcAft>
                <a:spcPts val="600"/>
              </a:spcAft>
            </a:pPr>
            <a:r>
              <a:rPr sz="2200" b="1" dirty="0">
                <a:solidFill>
                  <a:srgbClr val="4FC3F7"/>
                </a:solidFill>
                <a:latin typeface="微软雅黑"/>
              </a:rPr>
              <a:t>★ </a:t>
            </a:r>
            <a:r>
              <a:rPr sz="2200" b="1" dirty="0" err="1">
                <a:solidFill>
                  <a:srgbClr val="4FC3F7"/>
                </a:solidFill>
                <a:latin typeface="微软雅黑"/>
              </a:rPr>
              <a:t>周期缩短：决策从</a:t>
            </a:r>
            <a:r>
              <a:rPr sz="2200" b="1" dirty="0">
                <a:solidFill>
                  <a:srgbClr val="4FC3F7"/>
                </a:solidFill>
                <a:latin typeface="微软雅黑"/>
              </a:rPr>
              <a:t> 3 </a:t>
            </a:r>
            <a:r>
              <a:rPr sz="2200" b="1" dirty="0" err="1">
                <a:solidFill>
                  <a:srgbClr val="4FC3F7"/>
                </a:solidFill>
                <a:latin typeface="微软雅黑"/>
              </a:rPr>
              <a:t>天缩至实时、响应</a:t>
            </a:r>
            <a:r>
              <a:rPr sz="2200" b="1" dirty="0">
                <a:solidFill>
                  <a:srgbClr val="4FC3F7"/>
                </a:solidFill>
                <a:latin typeface="微软雅黑"/>
              </a:rPr>
              <a:t> 8 分钟→2 </a:t>
            </a:r>
            <a:r>
              <a:rPr sz="2200" b="1" dirty="0" err="1">
                <a:solidFill>
                  <a:srgbClr val="4FC3F7"/>
                </a:solidFill>
                <a:latin typeface="微软雅黑"/>
              </a:rPr>
              <a:t>分钟</a:t>
            </a:r>
            <a:endParaRPr sz="2200" b="1" dirty="0">
              <a:solidFill>
                <a:srgbClr val="4FC3F7"/>
              </a:solidFill>
              <a:latin typeface="微软雅黑"/>
            </a:endParaRPr>
          </a:p>
          <a:p>
            <a:pPr algn="l">
              <a:spcAft>
                <a:spcPts val="600"/>
              </a:spcAft>
            </a:pPr>
            <a:r>
              <a:rPr sz="2200" b="1" dirty="0">
                <a:solidFill>
                  <a:srgbClr val="FFB74D"/>
                </a:solidFill>
                <a:latin typeface="微软雅黑"/>
              </a:rPr>
              <a:t>★ </a:t>
            </a:r>
            <a:r>
              <a:rPr sz="2200" b="1" dirty="0" err="1">
                <a:solidFill>
                  <a:srgbClr val="FFB74D"/>
                </a:solidFill>
                <a:latin typeface="微软雅黑"/>
              </a:rPr>
              <a:t>转化提升：客服询单转化</a:t>
            </a:r>
            <a:r>
              <a:rPr sz="2200" b="1" dirty="0">
                <a:solidFill>
                  <a:srgbClr val="FFB74D"/>
                </a:solidFill>
                <a:latin typeface="微软雅黑"/>
              </a:rPr>
              <a:t> 18%→24%，</a:t>
            </a:r>
            <a:r>
              <a:rPr sz="2200" b="1" dirty="0" err="1">
                <a:solidFill>
                  <a:srgbClr val="FFB74D"/>
                </a:solidFill>
                <a:latin typeface="微软雅黑"/>
              </a:rPr>
              <a:t>外贸高意向优先跟进</a:t>
            </a:r>
            <a:endParaRPr sz="2200" b="1" dirty="0">
              <a:solidFill>
                <a:srgbClr val="FFB74D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 err="1">
                <a:solidFill>
                  <a:srgbClr val="FFFFFF"/>
                </a:solidFill>
                <a:latin typeface="微软雅黑"/>
              </a:rPr>
              <a:t>六、可复用资产</a:t>
            </a:r>
            <a:endParaRPr sz="32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B8E8"/>
                </a:solidFill>
                <a:latin typeface="微软雅黑"/>
              </a:rPr>
              <a:t>项目结束，资产留下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C9D8EE"/>
                </a:solidFill>
                <a:latin typeface="微软雅黑"/>
              </a:rPr>
              <a:t>▍ Prompt 模板库：分类/抽取/生成/审核/总结 5 类结构化模板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C9D8EE"/>
                </a:solidFill>
                <a:latin typeface="微软雅黑"/>
              </a:rPr>
              <a:t>▍ 评测集与标注样本：11 条标准样本 + 准确率基线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C9D8EE"/>
                </a:solidFill>
                <a:latin typeface="微软雅黑"/>
              </a:rPr>
              <a:t>▍ SOP 文档：操作手册、带教 SOP、监控与告警方案、部署文档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C9D8EE"/>
                </a:solidFill>
                <a:latin typeface="微软雅黑"/>
              </a:rPr>
              <a:t>▍ 代码资产：RPA 流程脚本、ETL 脚本、规则校验配置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C9D8EE"/>
                </a:solidFill>
                <a:latin typeface="微软雅黑"/>
              </a:rPr>
              <a:t>▍ 看板模板：项目卡片模板、采纳率看板、量化数据看板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C9D8EE"/>
                </a:solidFill>
                <a:latin typeface="微软雅黑"/>
              </a:rPr>
              <a:t>▍ 知识库：FAQ、异常清单模板、指标字典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63112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</a:t>
            </a:r>
            <a:r>
              <a:rPr sz="3000" b="1" dirty="0">
                <a:solidFill>
                  <a:schemeClr val="bg1"/>
                </a:solidFill>
                <a:latin typeface="微软雅黑"/>
              </a:rPr>
              <a:t>、</a:t>
            </a:r>
            <a:r>
              <a:rPr sz="3000" b="1" dirty="0" err="1">
                <a:solidFill>
                  <a:schemeClr val="bg1"/>
                </a:solidFill>
                <a:latin typeface="微软雅黑"/>
              </a:rPr>
              <a:t>各项目成效明细</a:t>
            </a:r>
            <a:endParaRPr sz="3000" b="1" dirty="0">
              <a:solidFill>
                <a:schemeClr val="bg1"/>
              </a:solidFill>
              <a:latin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496321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八大项目 · 前后对比数据（与数据看板同名同口径，示例可替换真实埋点）</a:t>
            </a:r>
            <a:r>
              <a:rPr sz="15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15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15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319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latin typeface="微软雅黑"/>
              </a:defRPr>
            </a:pP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企业服务客服 AI 工作流：处理量 300→420 单/日；人天 3→1 人天/日；准确率 96%→99.2%；响应 8→2 分钟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sz="2000" dirty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000"/>
              </a:spcAft>
              <a:defRPr sz="1500">
                <a:latin typeface="微软雅黑"/>
              </a:defRPr>
            </a:pP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发票审核自动化：处理量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120→480 张/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日；人天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2→0.5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人天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日；准确率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97%→99.5%；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成本降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73%</a:t>
            </a:r>
          </a:p>
          <a:p>
            <a:pPr>
              <a:spcAft>
                <a:spcPts val="1000"/>
              </a:spcAft>
              <a:defRPr sz="1500">
                <a:latin typeface="微软雅黑"/>
              </a:defRPr>
            </a:pP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订单跨平台同步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RPA：处理量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500→2000 单/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日；错误率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0.8%→0.1%；省 4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人天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/周</a:t>
            </a:r>
          </a:p>
          <a:p>
            <a:pPr>
              <a:spcAft>
                <a:spcPts val="1000"/>
              </a:spcAft>
              <a:defRPr sz="1500">
                <a:latin typeface="微软雅黑"/>
              </a:defRPr>
            </a:pP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库存对账自动化：对账时长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 小时→20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分钟；差异及时发现率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100%；省 2.5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人天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/周</a:t>
            </a:r>
          </a:p>
          <a:p>
            <a:pPr>
              <a:spcAft>
                <a:spcPts val="1000"/>
              </a:spcAft>
              <a:defRPr sz="1500">
                <a:latin typeface="微软雅黑"/>
              </a:defRPr>
            </a:pP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外贸询盘 AI 处理：响应 24h→2h；询盘结构化率 90%；跟单遗漏率降 80%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  <a:p>
            <a:pPr>
              <a:spcAft>
                <a:spcPts val="1000"/>
              </a:spcAft>
              <a:defRPr sz="1500">
                <a:latin typeface="微软雅黑"/>
              </a:defRPr>
            </a:pP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BI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经营看板：报表汇总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6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小时→实时；管理层自助分析采纳率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71%；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决策周期缩短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天</a:t>
            </a:r>
          </a:p>
          <a:p>
            <a:r>
              <a:t>▍ 订单 RPA 自动录入：处理量 150→600 单/日；人天 2→0.3 人天/日；准确率 98%→99.8%；省 12 人天/周</a:t>
            </a:r>
          </a:p>
          <a:p>
            <a:r>
              <a:t>▍ Prompt 评测体系：准确率 73%→93%（+20pp）；格式合规率 97%；版本迭代全程可回归</a:t>
            </a:r>
          </a:p>
        </p:txBody>
      </p:sp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6DED8CA0-292E-97B7-954A-26947D0AC444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56009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r>
              <a:rPr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、ROI </a:t>
            </a:r>
            <a:r>
              <a:rPr sz="3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测算与投入产出</a:t>
            </a:r>
            <a:endParaRPr sz="3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299152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让每一分</a:t>
            </a:r>
            <a:r>
              <a:rPr sz="15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sz="15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投入可解释、可衡量</a:t>
            </a:r>
            <a:endParaRPr sz="1500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199" y="1554480"/>
            <a:ext cx="10801927" cy="2887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latin typeface="微软雅黑"/>
              </a:defRPr>
            </a:pP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投入：工具订阅费约 1.2 万/月 + 实施人力 2 人 × 1.4 万/月/人 × 3 个月，按项目周期摊薄约 1.4 万/月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sz="2000" dirty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000"/>
              </a:spcAft>
              <a:defRPr sz="1500">
                <a:latin typeface="微软雅黑"/>
              </a:defRPr>
            </a:pP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产出：合计节省 61.6 人天/周 × 800 元/人天 ≈ 4.9 万/周 ≈ 19.7 万/月（示例口径）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  <a:p>
            <a:pPr>
              <a:spcAft>
                <a:spcPts val="1000"/>
              </a:spcAft>
              <a:defRPr sz="1500">
                <a:latin typeface="微软雅黑"/>
              </a:defRPr>
            </a:pP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ROI 测算：月度投入约 2.6 万（工具 1.2 + 人力摊薄 1.4）vs 月度节省约 19.7 万，静态回收期 &lt; 1 个月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sz="2000" dirty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000"/>
              </a:spcAft>
              <a:defRPr sz="1500">
                <a:latin typeface="微软雅黑"/>
              </a:defRPr>
            </a:pP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隐性收益：错误率下降、客户响应提速、管理层决策效率提升、方法论可复制</a:t>
            </a:r>
            <a:endParaRPr sz="2000" dirty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000"/>
              </a:spcAft>
              <a:defRPr sz="1500">
                <a:latin typeface="微软雅黑"/>
              </a:defRPr>
            </a:pP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测算方法：项目启动即埋点采集基线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上线后同口径对比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每周更新节省人天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月度输出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ROI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</a:t>
            </a:r>
            <a:endParaRPr sz="2000" dirty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000"/>
              </a:spcAft>
              <a:defRPr sz="1500">
                <a:latin typeface="微软雅黑"/>
              </a:defRPr>
            </a:pP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口径声明：以上为测算模型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示例口径，用于展示度量方法，实际数值以真实落地数据为准</a:t>
            </a:r>
            <a:endParaRPr sz="2000" dirty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95B4FF15-7A51-C2C6-EF48-0B9E56FEAD7D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89589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</a:t>
            </a:r>
            <a:r>
              <a:rPr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sz="3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下一步计划与基线管理</a:t>
            </a:r>
            <a:endParaRPr sz="3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287771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微软雅黑"/>
              </a:rPr>
              <a:t>让成效可复现、可追踪、可优化</a:t>
            </a:r>
            <a:endParaRPr sz="1500" dirty="0">
              <a:solidFill>
                <a:schemeClr val="tx2">
                  <a:lumMod val="60000"/>
                  <a:lumOff val="40000"/>
                </a:schemeClr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latin typeface="微软雅黑"/>
              </a:defRPr>
            </a:pP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基线前置：新项目立项强制采集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周基线数据，没有基线不启动，从根上保证可量化</a:t>
            </a:r>
            <a:endParaRPr sz="2000" dirty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000"/>
              </a:spcAft>
              <a:defRPr sz="1500">
                <a:latin typeface="微软雅黑"/>
              </a:defRPr>
            </a:pP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埋点完善：在客服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外贸流程中增加自动化埋点，ROI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从'测算'变'实测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</a:p>
          <a:p>
            <a:pPr>
              <a:spcAft>
                <a:spcPts val="1000"/>
              </a:spcAft>
              <a:defRPr sz="1500">
                <a:latin typeface="微软雅黑"/>
              </a:defRPr>
            </a:pP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评测自动化：Prompt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变更接入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CI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自动回归评测集，防'改好一个、改坏另一个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</a:t>
            </a:r>
          </a:p>
          <a:p>
            <a:pPr>
              <a:spcAft>
                <a:spcPts val="1000"/>
              </a:spcAft>
              <a:defRPr sz="1500">
                <a:latin typeface="微软雅黑"/>
              </a:defRPr>
            </a:pP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数据回流传导：投放数据回流驱动内容生成，让</a:t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AI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产出由转化数据驱动</a:t>
            </a:r>
            <a:endParaRPr sz="2000" dirty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000"/>
              </a:spcAft>
              <a:defRPr sz="1500">
                <a:latin typeface="微软雅黑"/>
              </a:defRPr>
            </a:pP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推广复制：沉淀 8 大项目为标准化模板包（SOP/Prompt/脚本/看板），向更多部门复制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sz="2000" dirty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000"/>
              </a:spcAft>
              <a:defRPr sz="1500">
                <a:latin typeface="微软雅黑"/>
              </a:defRPr>
            </a:pPr>
            <a:r>
              <a:rPr sz="2000" dirty="0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</a:t>
            </a:r>
            <a:r>
              <a:rPr sz="2000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复盘机制：每月项目复盘会，更新量化看板与资产库，输出下月改进项</a:t>
            </a:r>
            <a:endParaRPr sz="2000" dirty="0">
              <a:solidFill>
                <a:schemeClr val="tx2">
                  <a:lumMod val="20000"/>
                  <a:lumOff val="8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292B5F54-47D9-A4DC-4262-335535F9D7A5}"/>
              </a:ext>
            </a:extLst>
          </p:cNvPr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46304"/>
          </a:xfrm>
          <a:prstGeom prst="round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</a:t>
            </a:r>
            <a:r>
              <a:rPr sz="3200" b="1" dirty="0">
                <a:solidFill>
                  <a:srgbClr val="FFFFFF"/>
                </a:solidFill>
                <a:latin typeface="微软雅黑"/>
              </a:rPr>
              <a:t>、</a:t>
            </a:r>
            <a:r>
              <a:rPr sz="3200" b="1" dirty="0" err="1">
                <a:solidFill>
                  <a:srgbClr val="FFFFFF"/>
                </a:solidFill>
                <a:latin typeface="微软雅黑"/>
              </a:rPr>
              <a:t>复盘总结</a:t>
            </a:r>
            <a:endParaRPr sz="32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8FB8E8"/>
                </a:solidFill>
                <a:latin typeface="微软雅黑"/>
              </a:rPr>
              <a:t>经验与下一步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dirty="0">
                <a:solidFill>
                  <a:srgbClr val="C9D8EE"/>
                </a:solidFill>
                <a:latin typeface="微软雅黑"/>
              </a:rPr>
              <a:t>▍ </a:t>
            </a:r>
            <a:r>
              <a:rPr sz="1900" b="0" dirty="0" err="1">
                <a:solidFill>
                  <a:srgbClr val="C9D8EE"/>
                </a:solidFill>
                <a:latin typeface="微软雅黑"/>
              </a:rPr>
              <a:t>经验</a:t>
            </a:r>
            <a:r>
              <a:rPr sz="1900" b="0" dirty="0">
                <a:solidFill>
                  <a:srgbClr val="C9D8EE"/>
                </a:solidFill>
                <a:latin typeface="微软雅黑"/>
              </a:rPr>
              <a:t> 1：从'帮业务省事'的高频场景切入，先给甜头再推广</a:t>
            </a:r>
          </a:p>
          <a:p>
            <a:pPr algn="l">
              <a:spcAft>
                <a:spcPts val="600"/>
              </a:spcAft>
            </a:pPr>
            <a:r>
              <a:rPr sz="1900" b="0" dirty="0">
                <a:solidFill>
                  <a:srgbClr val="C9D8EE"/>
                </a:solidFill>
                <a:latin typeface="微软雅黑"/>
              </a:rPr>
              <a:t>▍ </a:t>
            </a:r>
            <a:r>
              <a:rPr sz="1900" b="0" dirty="0" err="1">
                <a:solidFill>
                  <a:srgbClr val="C9D8EE"/>
                </a:solidFill>
                <a:latin typeface="微软雅黑"/>
              </a:rPr>
              <a:t>经验</a:t>
            </a:r>
            <a:r>
              <a:rPr sz="1900" b="0" dirty="0">
                <a:solidFill>
                  <a:srgbClr val="C9D8EE"/>
                </a:solidFill>
                <a:latin typeface="微软雅黑"/>
              </a:rPr>
              <a:t> 2：Prompt </a:t>
            </a:r>
            <a:r>
              <a:rPr sz="1900" b="0" dirty="0" err="1">
                <a:solidFill>
                  <a:srgbClr val="C9D8EE"/>
                </a:solidFill>
                <a:latin typeface="微软雅黑"/>
              </a:rPr>
              <a:t>从'手艺'变'工程</a:t>
            </a:r>
            <a:r>
              <a:rPr sz="1900" b="0" dirty="0">
                <a:solidFill>
                  <a:srgbClr val="C9D8EE"/>
                </a:solidFill>
                <a:latin typeface="微软雅黑"/>
              </a:rPr>
              <a:t>'——</a:t>
            </a:r>
            <a:r>
              <a:rPr sz="1900" b="0" dirty="0" err="1">
                <a:solidFill>
                  <a:srgbClr val="C9D8EE"/>
                </a:solidFill>
                <a:latin typeface="微软雅黑"/>
              </a:rPr>
              <a:t>结构化模板</a:t>
            </a:r>
            <a:r>
              <a:rPr sz="1900" b="0" dirty="0">
                <a:solidFill>
                  <a:srgbClr val="C9D8EE"/>
                </a:solidFill>
                <a:latin typeface="微软雅黑"/>
              </a:rPr>
              <a:t> + Schema </a:t>
            </a:r>
            <a:r>
              <a:rPr sz="1900" b="0" dirty="0" err="1">
                <a:solidFill>
                  <a:srgbClr val="C9D8EE"/>
                </a:solidFill>
                <a:latin typeface="微软雅黑"/>
              </a:rPr>
              <a:t>强约束</a:t>
            </a:r>
            <a:r>
              <a:rPr sz="1900" b="0" dirty="0">
                <a:solidFill>
                  <a:srgbClr val="C9D8EE"/>
                </a:solidFill>
                <a:latin typeface="微软雅黑"/>
              </a:rPr>
              <a:t> + </a:t>
            </a:r>
            <a:r>
              <a:rPr sz="1900" b="0" dirty="0" err="1">
                <a:solidFill>
                  <a:srgbClr val="C9D8EE"/>
                </a:solidFill>
                <a:latin typeface="微软雅黑"/>
              </a:rPr>
              <a:t>评测集</a:t>
            </a:r>
            <a:endParaRPr sz="1900" b="0" dirty="0">
              <a:solidFill>
                <a:srgbClr val="C9D8EE"/>
              </a:solidFill>
              <a:latin typeface="微软雅黑"/>
            </a:endParaRPr>
          </a:p>
          <a:p>
            <a:pPr algn="l">
              <a:spcAft>
                <a:spcPts val="600"/>
              </a:spcAft>
            </a:pPr>
            <a:r>
              <a:rPr sz="1900" b="0" dirty="0">
                <a:solidFill>
                  <a:srgbClr val="C9D8EE"/>
                </a:solidFill>
                <a:latin typeface="微软雅黑"/>
              </a:rPr>
              <a:t>▍ </a:t>
            </a:r>
            <a:r>
              <a:rPr sz="1900" b="0" dirty="0" err="1">
                <a:solidFill>
                  <a:srgbClr val="C9D8EE"/>
                </a:solidFill>
                <a:latin typeface="微软雅黑"/>
              </a:rPr>
              <a:t>经验</a:t>
            </a:r>
            <a:r>
              <a:rPr sz="1900" b="0" dirty="0">
                <a:solidFill>
                  <a:srgbClr val="C9D8EE"/>
                </a:solidFill>
                <a:latin typeface="微软雅黑"/>
              </a:rPr>
              <a:t> 3：上线前必须埋点采集基线，用前后对比而非事后估算</a:t>
            </a:r>
          </a:p>
          <a:p>
            <a:pPr algn="l">
              <a:spcAft>
                <a:spcPts val="600"/>
              </a:spcAft>
            </a:pPr>
            <a:r>
              <a:rPr sz="1900" b="0" dirty="0">
                <a:solidFill>
                  <a:srgbClr val="C9D8EE"/>
                </a:solidFill>
                <a:latin typeface="微软雅黑"/>
              </a:rPr>
              <a:t>▍ </a:t>
            </a:r>
            <a:r>
              <a:rPr sz="1900" b="0" dirty="0" err="1">
                <a:solidFill>
                  <a:srgbClr val="C9D8EE"/>
                </a:solidFill>
                <a:latin typeface="微软雅黑"/>
              </a:rPr>
              <a:t>经验</a:t>
            </a:r>
            <a:r>
              <a:rPr sz="1900" b="0" dirty="0">
                <a:solidFill>
                  <a:srgbClr val="C9D8EE"/>
                </a:solidFill>
                <a:latin typeface="微软雅黑"/>
              </a:rPr>
              <a:t> 4：反馈闭环要可见化，让业务看到'提的问题真的被改了'</a:t>
            </a:r>
          </a:p>
          <a:p>
            <a:pPr algn="l">
              <a:spcAft>
                <a:spcPts val="600"/>
              </a:spcAft>
            </a:pPr>
            <a:r>
              <a:rPr sz="1900" b="0" dirty="0">
                <a:solidFill>
                  <a:srgbClr val="C9D8EE"/>
                </a:solidFill>
                <a:latin typeface="微软雅黑"/>
              </a:rPr>
              <a:t>▍ </a:t>
            </a:r>
            <a:r>
              <a:rPr sz="1900" b="0" dirty="0" err="1">
                <a:solidFill>
                  <a:srgbClr val="C9D8EE"/>
                </a:solidFill>
                <a:latin typeface="微软雅黑"/>
              </a:rPr>
              <a:t>下一步：评测自动化进</a:t>
            </a:r>
            <a:r>
              <a:rPr sz="1900" b="0" dirty="0">
                <a:solidFill>
                  <a:srgbClr val="C9D8EE"/>
                </a:solidFill>
                <a:latin typeface="微软雅黑"/>
              </a:rPr>
              <a:t> </a:t>
            </a:r>
            <a:r>
              <a:rPr sz="1900" b="0" dirty="0" err="1">
                <a:solidFill>
                  <a:srgbClr val="C9D8EE"/>
                </a:solidFill>
                <a:latin typeface="微软雅黑"/>
              </a:rPr>
              <a:t>CI、灰度发布、扩大部门覆盖到</a:t>
            </a:r>
            <a:r>
              <a:rPr sz="1900" b="0" dirty="0">
                <a:solidFill>
                  <a:srgbClr val="C9D8EE"/>
                </a:solidFill>
                <a:latin typeface="微软雅黑"/>
              </a:rPr>
              <a:t> 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863</Words>
  <Application>Microsoft Office PowerPoint</Application>
  <PresentationFormat>宽屏</PresentationFormat>
  <Paragraphs>103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Javie</cp:lastModifiedBy>
  <cp:revision>3</cp:revision>
  <dcterms:created xsi:type="dcterms:W3CDTF">2013-01-27T09:14:16Z</dcterms:created>
  <dcterms:modified xsi:type="dcterms:W3CDTF">2026-09-23T06:59:37Z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001191440300708461136T1XGW3","ProduceID":"a9782e29de8590e62ac547221dcdd3cc_9f3e741db70011f18d43525400393706","ReservedCode1":"E3YPzg+xoU/Sclv8JzdgCCnYI4XNOI1ho6d8mmWol4qWxxWPYF0RE/c2MEEcHkQNvm+wMHDYtMYJob8GKK6G6PMnnTbYGow/xopQ4B4jRH/XF3ZvNFsNxQ4SV6gNuou2831VbWdPVItzzAvUA962bRmfEIcLck//0WhvM4nWEkxBAX4bZnBDF6WqqXM=","ContentPropagator":"001191440300708461136T1XGW3","PropagateID":"a9782e29de8590e62ac547221dcdd3cc_9f3e741db70011f18d43525400393706","ReservedCode2":"E3YPzg+xoU/Sclv8JzdgCCnYI4XNOI1ho6d8mmWol4qWxxWPYF0RE/c2MEEcHkQNvm+wMHDYtMYJob8GKK6G6PMnnTbYGow/xopQ4B4jRH/XF3ZvNFsNxQ4SV6gNuou2831VbWdPVItzzAvUA962bRmfEIcLck//0WhvM4nWEkxBAX4bZnBDF6WqqXM="}</vt:lpwstr>
  </property>
</Properties>
</file>